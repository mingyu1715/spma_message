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24384000" cy="13716000"/>
  <p:notesSz cx="6858000" cy="9144000"/>
  <p:embeddedFontLst>
    <p:embeddedFont>
      <p:font typeface="맑은 고딕" panose="020B0503020000020004" pitchFamily="34" charset="-127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1301" autoAdjust="0"/>
  </p:normalViewPr>
  <p:slideViewPr>
    <p:cSldViewPr>
      <p:cViewPr varScale="1">
        <p:scale>
          <a:sx n="57" d="100"/>
          <a:sy n="57" d="100"/>
        </p:scale>
        <p:origin x="1016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1CDB83-DF6F-614E-9406-46AE5AD59F6C}" type="datetimeFigureOut">
              <a:rPr kumimoji="1" lang="ko-KR" altLang="en-US" smtClean="0"/>
              <a:t>2025. 11. 30.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22222-762D-0440-8732-E5FD54FA4E0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06031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ko-KR" dirty="0"/>
              <a:t> stratify=y,</a:t>
            </a:r>
          </a:p>
          <a:p>
            <a:r>
              <a:rPr kumimoji="1" lang="en-US" altLang="ko-KR" dirty="0"/>
              <a:t>→ </a:t>
            </a:r>
            <a:r>
              <a:rPr kumimoji="1" lang="ko-KR" altLang="en-US" dirty="0"/>
              <a:t>가장 중요한 옵션</a:t>
            </a:r>
          </a:p>
          <a:p>
            <a:r>
              <a:rPr kumimoji="1" lang="ko-KR" altLang="en-US" dirty="0"/>
              <a:t>→ 정상</a:t>
            </a:r>
            <a:r>
              <a:rPr kumimoji="1" lang="en-US" altLang="ko-KR" dirty="0"/>
              <a:t>(0)</a:t>
            </a:r>
            <a:r>
              <a:rPr kumimoji="1" lang="ko-KR" altLang="en-US" dirty="0"/>
              <a:t>과 스팸</a:t>
            </a:r>
            <a:r>
              <a:rPr kumimoji="1" lang="en-US" altLang="ko-KR" dirty="0"/>
              <a:t>(1)</a:t>
            </a:r>
            <a:r>
              <a:rPr kumimoji="1" lang="ko-KR" altLang="en-US" dirty="0"/>
              <a:t>의 비율을 학습</a:t>
            </a:r>
            <a:r>
              <a:rPr kumimoji="1" lang="en-US" altLang="ko-KR" dirty="0"/>
              <a:t>/</a:t>
            </a:r>
            <a:r>
              <a:rPr kumimoji="1" lang="ko-KR" altLang="en-US" dirty="0"/>
              <a:t>테스트 세트에 동일하게 유지</a:t>
            </a:r>
          </a:p>
          <a:p>
            <a:r>
              <a:rPr kumimoji="1" lang="ko-KR" altLang="en-US" dirty="0"/>
              <a:t>→ 예</a:t>
            </a:r>
            <a:r>
              <a:rPr kumimoji="1" lang="en-US" altLang="ko-KR" dirty="0"/>
              <a:t>: </a:t>
            </a:r>
            <a:r>
              <a:rPr kumimoji="1" lang="ko-KR" altLang="en-US" dirty="0"/>
              <a:t>전체 데이터에서 정상</a:t>
            </a:r>
            <a:r>
              <a:rPr kumimoji="1" lang="en-US" altLang="ko-KR" dirty="0"/>
              <a:t>/</a:t>
            </a:r>
            <a:r>
              <a:rPr kumimoji="1" lang="ko-KR" altLang="en-US" dirty="0"/>
              <a:t>스팸 비율이 </a:t>
            </a:r>
            <a:r>
              <a:rPr kumimoji="1" lang="en-US" altLang="ko-KR" dirty="0"/>
              <a:t>51:49</a:t>
            </a:r>
            <a:r>
              <a:rPr kumimoji="1" lang="ko-KR" altLang="en-US" dirty="0"/>
              <a:t>이면</a:t>
            </a:r>
          </a:p>
          <a:p>
            <a:r>
              <a:rPr kumimoji="1" lang="en-US" altLang="ko-KR" dirty="0"/>
              <a:t>Train/Test </a:t>
            </a:r>
            <a:r>
              <a:rPr kumimoji="1" lang="ko-KR" altLang="en-US" dirty="0"/>
              <a:t>모두 똑같이 </a:t>
            </a:r>
            <a:r>
              <a:rPr kumimoji="1" lang="en-US" altLang="ko-KR" dirty="0"/>
              <a:t>51:49 </a:t>
            </a:r>
            <a:r>
              <a:rPr kumimoji="1" lang="ko-KR" altLang="en-US" dirty="0"/>
              <a:t>비율로 나뉘게 됨</a:t>
            </a:r>
          </a:p>
          <a:p>
            <a:r>
              <a:rPr kumimoji="1" lang="ko-KR" altLang="en-US" dirty="0"/>
              <a:t>→ 불균형 데이터에서 성능 왜곡 방지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22222-762D-0440-8732-E5FD54FA4E06}" type="slidenum">
              <a:rPr kumimoji="1" lang="ko-KR" altLang="en-US" smtClean="0"/>
              <a:t>11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32276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🔸 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analyzer="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char_wb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</a:t>
            </a:r>
            <a:endParaRPr lang="en-US" altLang="ko-KR" b="1" dirty="0"/>
          </a:p>
          <a:p>
            <a:r>
              <a:rPr lang="ko-KR" altLang="en-US" dirty="0"/>
              <a:t>단어</a:t>
            </a:r>
            <a:r>
              <a:rPr lang="en-US" altLang="ko-KR" dirty="0"/>
              <a:t>(word) </a:t>
            </a:r>
            <a:r>
              <a:rPr lang="ko-KR" altLang="en-US" dirty="0"/>
              <a:t>단위가 아니라 </a:t>
            </a:r>
            <a:r>
              <a:rPr lang="ko-KR" altLang="en-US" b="1" dirty="0"/>
              <a:t>문자</a:t>
            </a:r>
            <a:r>
              <a:rPr lang="en-US" altLang="ko-KR" b="1" dirty="0"/>
              <a:t>(character)</a:t>
            </a:r>
            <a:r>
              <a:rPr lang="en-US" altLang="ko-KR" dirty="0"/>
              <a:t> </a:t>
            </a:r>
            <a:r>
              <a:rPr lang="ko-KR" altLang="en-US" dirty="0"/>
              <a:t>단위로 쪼개서 분석한다는 의미</a:t>
            </a:r>
          </a:p>
          <a:p>
            <a:r>
              <a:rPr lang="ko-KR" altLang="en-US" b="1" dirty="0"/>
              <a:t>🔸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ngram_range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=(3, 5)</a:t>
            </a:r>
            <a:endParaRPr lang="en-US" altLang="ko-KR" b="1" dirty="0"/>
          </a:p>
          <a:p>
            <a:r>
              <a:rPr lang="ko-KR" altLang="en-US" dirty="0"/>
              <a:t>문자 </a:t>
            </a:r>
            <a:r>
              <a:rPr lang="en-US" altLang="ko-KR" dirty="0"/>
              <a:t>3</a:t>
            </a:r>
            <a:r>
              <a:rPr lang="ko-KR" altLang="en-US" dirty="0"/>
              <a:t>개</a:t>
            </a:r>
            <a:r>
              <a:rPr lang="en-US" altLang="ko-KR" dirty="0"/>
              <a:t>~5</a:t>
            </a:r>
            <a:r>
              <a:rPr lang="ko-KR" altLang="en-US" dirty="0"/>
              <a:t>개 단위 조각을 특징으로 사용</a:t>
            </a:r>
            <a:br>
              <a:rPr lang="ko-KR" altLang="en-US" dirty="0"/>
            </a:br>
            <a:r>
              <a:rPr lang="ko-KR" altLang="en-US" b="1" dirty="0"/>
              <a:t>🔸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min_df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=3</a:t>
            </a:r>
            <a:endParaRPr lang="en-US" altLang="ko-KR" b="1" dirty="0"/>
          </a:p>
          <a:p>
            <a:r>
              <a:rPr lang="ko-KR" altLang="en-US" dirty="0"/>
              <a:t>전체 문서에서 </a:t>
            </a:r>
            <a:r>
              <a:rPr lang="en-US" altLang="ko-KR" b="1" dirty="0"/>
              <a:t>3</a:t>
            </a:r>
            <a:r>
              <a:rPr lang="ko-KR" altLang="en-US" b="1" dirty="0"/>
              <a:t>번 이상 등장한 패턴만 </a:t>
            </a:r>
            <a:r>
              <a:rPr lang="en-US" altLang="ko-KR" b="1" dirty="0"/>
              <a:t>feature</a:t>
            </a:r>
            <a:r>
              <a:rPr lang="ko-KR" altLang="en-US" b="1" dirty="0"/>
              <a:t>로 사용</a:t>
            </a:r>
            <a:endParaRPr lang="ko-KR" altLang="en-US" dirty="0"/>
          </a:p>
          <a:p>
            <a:r>
              <a:rPr lang="ko-KR" altLang="en-US" dirty="0"/>
              <a:t>너무 희귀한 패턴은 노이즈라서 제거하는 설정</a:t>
            </a:r>
          </a:p>
          <a:p>
            <a:r>
              <a:rPr lang="ko-KR" altLang="en-US" b="1" dirty="0"/>
              <a:t>🔸 </a:t>
            </a:r>
            <a:r>
              <a:rPr lang="en-US" altLang="ko-K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max_features</a:t>
            </a:r>
            <a:r>
              <a:rPr lang="en-US" altLang="ko-K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=100,000</a:t>
            </a:r>
            <a:endParaRPr lang="en-US" altLang="ko-KR" b="1" dirty="0"/>
          </a:p>
          <a:p>
            <a:r>
              <a:rPr lang="ko-KR" altLang="en-US" dirty="0"/>
              <a:t>사용할 </a:t>
            </a:r>
            <a:r>
              <a:rPr lang="en-US" altLang="ko-KR" dirty="0"/>
              <a:t>TF-IDF </a:t>
            </a:r>
            <a:r>
              <a:rPr lang="ko-KR" altLang="en-US" dirty="0"/>
              <a:t>특징을 최대 </a:t>
            </a:r>
            <a:r>
              <a:rPr lang="en-US" altLang="ko-KR" dirty="0"/>
              <a:t>10</a:t>
            </a:r>
            <a:r>
              <a:rPr lang="ko-KR" altLang="en-US" dirty="0"/>
              <a:t>만 개로 제한</a:t>
            </a:r>
          </a:p>
          <a:p>
            <a:r>
              <a:rPr lang="ko-KR" altLang="en-US" b="1" dirty="0"/>
              <a:t>✔ 훈련 데이터 벡터화</a:t>
            </a:r>
          </a:p>
          <a:p>
            <a:pPr rtl="0"/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X_train_tfidf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=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vectorizer.fit_transform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X_train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altLang="ko-KR" b="1" dirty="0"/>
              <a:t>fit()</a:t>
            </a:r>
            <a:r>
              <a:rPr lang="en-US" altLang="ko-KR" dirty="0"/>
              <a:t>: </a:t>
            </a:r>
            <a:r>
              <a:rPr lang="ko-KR" altLang="en-US" dirty="0"/>
              <a:t>훈련 데이터에 나타난 문자 패턴을 학습</a:t>
            </a:r>
            <a:r>
              <a:rPr lang="en-US" altLang="ko-KR" dirty="0"/>
              <a:t>(</a:t>
            </a:r>
            <a:r>
              <a:rPr lang="ko-KR" altLang="en-US" dirty="0"/>
              <a:t>사전 구축</a:t>
            </a:r>
            <a:r>
              <a:rPr lang="en-US" altLang="ko-KR" dirty="0"/>
              <a:t>)</a:t>
            </a:r>
          </a:p>
          <a:p>
            <a:r>
              <a:rPr lang="en-US" altLang="ko-KR" b="1" dirty="0"/>
              <a:t>transform()</a:t>
            </a:r>
            <a:r>
              <a:rPr lang="en-US" altLang="ko-KR" dirty="0"/>
              <a:t>: </a:t>
            </a:r>
            <a:r>
              <a:rPr lang="ko-KR" altLang="en-US" dirty="0"/>
              <a:t>각 문장을 </a:t>
            </a:r>
            <a:r>
              <a:rPr lang="en-US" altLang="ko-KR" dirty="0"/>
              <a:t>TF-IDF </a:t>
            </a:r>
            <a:r>
              <a:rPr lang="ko-KR" altLang="en-US" dirty="0"/>
              <a:t>벡터로 변환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이 단계에서 “모델이 학습 가능한 숫자 </a:t>
            </a:r>
            <a:r>
              <a:rPr lang="ko-KR" altLang="en-US" dirty="0" err="1"/>
              <a:t>데이터”가</a:t>
            </a:r>
            <a:r>
              <a:rPr lang="ko-KR" altLang="en-US" dirty="0"/>
              <a:t> 만들어진다</a:t>
            </a:r>
          </a:p>
          <a:p>
            <a:endParaRPr lang="ko-KR" altLang="en-US" dirty="0"/>
          </a:p>
          <a:p>
            <a:r>
              <a:rPr lang="ko-KR" altLang="en-US" b="1" dirty="0"/>
              <a:t>✔ 테스트 데이터 벡터화</a:t>
            </a:r>
          </a:p>
          <a:p>
            <a:pPr rtl="0"/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X_test_tfidf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= 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vectorizer.transform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altLang="ko-K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X_test</a:t>
            </a:r>
            <a:r>
              <a:rPr lang="en-US" altLang="ko-K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ko-KR" altLang="en-US" dirty="0"/>
              <a:t>테스트 데이터는 </a:t>
            </a:r>
            <a:r>
              <a:rPr lang="en-US" altLang="ko-KR" b="1" dirty="0"/>
              <a:t>fit</a:t>
            </a:r>
            <a:r>
              <a:rPr lang="ko-KR" altLang="en-US" b="1" dirty="0"/>
              <a:t>이 아니라 </a:t>
            </a:r>
            <a:r>
              <a:rPr lang="en-US" altLang="ko-KR" b="1" dirty="0"/>
              <a:t>transform</a:t>
            </a:r>
            <a:r>
              <a:rPr lang="ko-KR" altLang="en-US" b="1" dirty="0"/>
              <a:t>만 사용</a:t>
            </a:r>
            <a:r>
              <a:rPr lang="ko-KR" altLang="en-US" dirty="0"/>
              <a:t>훈련 데이터에서 배운 패턴</a:t>
            </a:r>
            <a:r>
              <a:rPr lang="en-US" altLang="ko-KR" dirty="0"/>
              <a:t>(</a:t>
            </a:r>
            <a:r>
              <a:rPr lang="ko-KR" altLang="en-US" dirty="0"/>
              <a:t>사전</a:t>
            </a:r>
            <a:r>
              <a:rPr lang="en-US" altLang="ko-KR" dirty="0"/>
              <a:t>)</a:t>
            </a:r>
            <a:r>
              <a:rPr lang="ko-KR" altLang="en-US" dirty="0" err="1"/>
              <a:t>에</a:t>
            </a:r>
            <a:r>
              <a:rPr lang="ko-KR" altLang="en-US" dirty="0"/>
              <a:t> 맞춰 변환</a:t>
            </a:r>
          </a:p>
          <a:p>
            <a:r>
              <a:rPr lang="ko-KR" altLang="en-US" dirty="0"/>
              <a:t>이렇게 해야 </a:t>
            </a:r>
            <a:r>
              <a:rPr lang="en-US" altLang="ko-KR" dirty="0"/>
              <a:t>Train/Test</a:t>
            </a:r>
            <a:r>
              <a:rPr lang="ko-KR" altLang="en-US" dirty="0"/>
              <a:t>가 같은 기준</a:t>
            </a:r>
            <a:r>
              <a:rPr lang="en-US" altLang="ko-KR" dirty="0"/>
              <a:t>(feature space)</a:t>
            </a:r>
            <a:r>
              <a:rPr lang="ko-KR" altLang="en-US" dirty="0" err="1"/>
              <a:t>으로</a:t>
            </a:r>
            <a:r>
              <a:rPr lang="ko-KR" altLang="en-US" dirty="0"/>
              <a:t> 비교 가능함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22222-762D-0440-8732-E5FD54FA4E06}" type="slidenum">
              <a:rPr kumimoji="1" lang="ko-KR" altLang="en-US" smtClean="0"/>
              <a:t>12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931563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Naive Bayes</a:t>
            </a:r>
            <a:r>
              <a:rPr lang="en-US" altLang="ko-KR" dirty="0"/>
              <a:t> → “</a:t>
            </a:r>
            <a:r>
              <a:rPr lang="ko-KR" altLang="en-US" dirty="0"/>
              <a:t>단어 등장 확률로 판단하는 빠르고 단순한 확률 모델”</a:t>
            </a:r>
          </a:p>
          <a:p>
            <a:r>
              <a:rPr lang="en-US" altLang="ko-KR" b="1" dirty="0"/>
              <a:t>Linear SVM</a:t>
            </a:r>
            <a:r>
              <a:rPr lang="en-US" altLang="ko-KR" dirty="0"/>
              <a:t> → “</a:t>
            </a:r>
            <a:r>
              <a:rPr lang="ko-KR" altLang="en-US" dirty="0"/>
              <a:t>정상</a:t>
            </a:r>
            <a:r>
              <a:rPr lang="en-US" altLang="ko-KR" dirty="0"/>
              <a:t>/</a:t>
            </a:r>
            <a:r>
              <a:rPr lang="ko-KR" altLang="en-US" dirty="0"/>
              <a:t>스팸을 가장 멀리 분리하는 경계선을 찾는 고정확도 모델”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22222-762D-0440-8732-E5FD54FA4E06}" type="slidenum">
              <a:rPr kumimoji="1" lang="ko-KR" altLang="en-US" smtClean="0"/>
              <a:t>13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694500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1) Macro Precision (</a:t>
            </a:r>
            <a:r>
              <a:rPr lang="ko-KR" altLang="en-US" b="1" dirty="0"/>
              <a:t>정밀도</a:t>
            </a:r>
            <a:r>
              <a:rPr lang="en-US" altLang="ko-KR" b="1" dirty="0"/>
              <a:t>)</a:t>
            </a:r>
          </a:p>
          <a:p>
            <a:r>
              <a:rPr lang="ko-KR" altLang="en-US" dirty="0"/>
              <a:t>각 클래스에서 “스팸이라고 예측한 것 중 진짜 스팸이 얼마나 </a:t>
            </a:r>
            <a:r>
              <a:rPr lang="ko-KR" altLang="en-US" dirty="0" err="1"/>
              <a:t>정확했는지”를</a:t>
            </a:r>
            <a:r>
              <a:rPr lang="ko-KR" altLang="en-US" dirty="0"/>
              <a:t> 계산한 뒤</a:t>
            </a:r>
            <a:br>
              <a:rPr lang="ko-KR" altLang="en-US" dirty="0"/>
            </a:br>
            <a:r>
              <a:rPr lang="ko-KR" altLang="en-US" dirty="0"/>
              <a:t>클래스별 </a:t>
            </a:r>
            <a:r>
              <a:rPr lang="en-US" altLang="ko-KR" dirty="0"/>
              <a:t>Precision</a:t>
            </a:r>
            <a:r>
              <a:rPr lang="ko-KR" altLang="en-US" dirty="0"/>
              <a:t>을 모두 </a:t>
            </a:r>
            <a:r>
              <a:rPr lang="ko-KR" altLang="en-US" dirty="0" err="1"/>
              <a:t>평균낸</a:t>
            </a:r>
            <a:r>
              <a:rPr lang="ko-KR" altLang="en-US" dirty="0"/>
              <a:t> 값입니다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b="1" dirty="0"/>
              <a:t>둘 다</a:t>
            </a:r>
            <a:r>
              <a:rPr lang="en-US" altLang="ko-KR" b="1" dirty="0"/>
              <a:t>(</a:t>
            </a:r>
            <a:r>
              <a:rPr lang="ko-KR" altLang="en-US" b="1" dirty="0"/>
              <a:t>정상</a:t>
            </a:r>
            <a:r>
              <a:rPr lang="en-US" altLang="ko-KR" b="1" dirty="0"/>
              <a:t>·</a:t>
            </a:r>
            <a:r>
              <a:rPr lang="ko-KR" altLang="en-US" b="1" dirty="0"/>
              <a:t>스팸</a:t>
            </a:r>
            <a:r>
              <a:rPr lang="en-US" altLang="ko-KR" b="1" dirty="0"/>
              <a:t>)</a:t>
            </a:r>
            <a:r>
              <a:rPr lang="ko-KR" altLang="en-US" b="1" dirty="0" err="1"/>
              <a:t>를</a:t>
            </a:r>
            <a:r>
              <a:rPr lang="ko-KR" altLang="en-US" b="1" dirty="0"/>
              <a:t> 똑같은 비중으로 보고 평가하는 정밀도 평균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스팸을 잘못 잡아내는 경우</a:t>
            </a:r>
            <a:r>
              <a:rPr lang="en-US" altLang="ko-KR" dirty="0"/>
              <a:t>(False Positive)</a:t>
            </a:r>
            <a:r>
              <a:rPr lang="ko-KR" altLang="en-US" dirty="0"/>
              <a:t>가 적을수록 높아집니다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endParaRPr lang="en-US" altLang="ko-KR" dirty="0"/>
          </a:p>
          <a:p>
            <a:r>
              <a:rPr lang="en-US" altLang="ko-KR" b="1" dirty="0"/>
              <a:t>2) Macro Recall (</a:t>
            </a:r>
            <a:r>
              <a:rPr lang="ko-KR" altLang="en-US" b="1" dirty="0" err="1"/>
              <a:t>재현율</a:t>
            </a:r>
            <a:r>
              <a:rPr lang="en-US" altLang="ko-KR" b="1" dirty="0"/>
              <a:t>)</a:t>
            </a:r>
          </a:p>
          <a:p>
            <a:r>
              <a:rPr lang="ko-KR" altLang="en-US" dirty="0"/>
              <a:t>각 클래스에서 “실제로 스팸인 것을 놓치지 않고 얼마나 </a:t>
            </a:r>
            <a:r>
              <a:rPr lang="ko-KR" altLang="en-US" dirty="0" err="1"/>
              <a:t>찾아냈는지”를</a:t>
            </a:r>
            <a:r>
              <a:rPr lang="ko-KR" altLang="en-US" dirty="0"/>
              <a:t> 계산하고</a:t>
            </a:r>
            <a:br>
              <a:rPr lang="ko-KR" altLang="en-US" dirty="0"/>
            </a:br>
            <a:r>
              <a:rPr lang="ko-KR" altLang="en-US" dirty="0"/>
              <a:t>클래스별 </a:t>
            </a:r>
            <a:r>
              <a:rPr lang="en-US" altLang="ko-KR" dirty="0"/>
              <a:t>Recall</a:t>
            </a:r>
            <a:r>
              <a:rPr lang="ko-KR" altLang="en-US" dirty="0"/>
              <a:t>을 </a:t>
            </a:r>
            <a:r>
              <a:rPr lang="ko-KR" altLang="en-US" dirty="0" err="1"/>
              <a:t>평균낸</a:t>
            </a:r>
            <a:r>
              <a:rPr lang="ko-KR" altLang="en-US" dirty="0"/>
              <a:t> 값입니다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b="1" dirty="0"/>
              <a:t>스팸을 놓치지 않고 잘 잡아낸 정도를 양쪽 클래스로 평균한 값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스팸을 스팸이라고 못 잡는 경우</a:t>
            </a:r>
            <a:r>
              <a:rPr lang="en-US" altLang="ko-KR" dirty="0"/>
              <a:t>(False Negative)</a:t>
            </a:r>
            <a:r>
              <a:rPr lang="ko-KR" altLang="en-US" dirty="0"/>
              <a:t>가 적을수록 높아집니다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endParaRPr lang="en-US" altLang="ko-KR" dirty="0"/>
          </a:p>
          <a:p>
            <a:r>
              <a:rPr lang="en-US" altLang="ko-KR" b="1" dirty="0"/>
              <a:t>3) Macro F1-score</a:t>
            </a:r>
          </a:p>
          <a:p>
            <a:r>
              <a:rPr lang="en-US" altLang="ko-KR" dirty="0"/>
              <a:t>Precision</a:t>
            </a:r>
            <a:r>
              <a:rPr lang="ko-KR" altLang="en-US" dirty="0"/>
              <a:t>과 </a:t>
            </a:r>
            <a:r>
              <a:rPr lang="en-US" altLang="ko-KR" dirty="0"/>
              <a:t>Recall</a:t>
            </a:r>
            <a:r>
              <a:rPr lang="ko-KR" altLang="en-US" dirty="0"/>
              <a:t>의 조화 평균을</a:t>
            </a:r>
            <a:br>
              <a:rPr lang="ko-KR" altLang="en-US" dirty="0"/>
            </a:br>
            <a:r>
              <a:rPr lang="ko-KR" altLang="en-US" dirty="0"/>
              <a:t>두 클래스</a:t>
            </a:r>
            <a:r>
              <a:rPr lang="en-US" altLang="ko-KR" dirty="0"/>
              <a:t>(</a:t>
            </a:r>
            <a:r>
              <a:rPr lang="ko-KR" altLang="en-US" dirty="0"/>
              <a:t>정상</a:t>
            </a:r>
            <a:r>
              <a:rPr lang="en-US" altLang="ko-KR" dirty="0"/>
              <a:t>/</a:t>
            </a:r>
            <a:r>
              <a:rPr lang="ko-KR" altLang="en-US" dirty="0"/>
              <a:t>스팸</a:t>
            </a:r>
            <a:r>
              <a:rPr lang="en-US" altLang="ko-KR" dirty="0"/>
              <a:t>)</a:t>
            </a:r>
            <a:r>
              <a:rPr lang="ko-KR" altLang="en-US" dirty="0" err="1"/>
              <a:t>에</a:t>
            </a:r>
            <a:r>
              <a:rPr lang="ko-KR" altLang="en-US" dirty="0"/>
              <a:t> 대해 각각 계산한 후 평균한 값입니다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정확성과 재현율의 균형을 종합적으로 판단하는 지표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두 성능이 동시에 높아야 높은 점수를 얻을 수 있습니다</a:t>
            </a:r>
            <a:r>
              <a:rPr lang="en-US" altLang="ko-KR" dirty="0"/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A22222-762D-0440-8732-E5FD54FA4E06}" type="slidenum">
              <a:rPr kumimoji="1" lang="ko-KR" altLang="en-US" smtClean="0"/>
              <a:t>17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87861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8.png"/><Relationship Id="rId7" Type="http://schemas.openxmlformats.org/officeDocument/2006/relationships/image" Target="../media/image5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31.png"/><Relationship Id="rId9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31.png"/><Relationship Id="rId4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31.png"/><Relationship Id="rId4" Type="http://schemas.openxmlformats.org/officeDocument/2006/relationships/image" Target="../media/image6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6.png"/><Relationship Id="rId7" Type="http://schemas.openxmlformats.org/officeDocument/2006/relationships/image" Target="../media/image69.png"/><Relationship Id="rId12" Type="http://schemas.openxmlformats.org/officeDocument/2006/relationships/image" Target="../media/image7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11" Type="http://schemas.openxmlformats.org/officeDocument/2006/relationships/image" Target="../media/image73.png"/><Relationship Id="rId5" Type="http://schemas.openxmlformats.org/officeDocument/2006/relationships/image" Target="../media/image31.png"/><Relationship Id="rId10" Type="http://schemas.openxmlformats.org/officeDocument/2006/relationships/image" Target="../media/image72.png"/><Relationship Id="rId4" Type="http://schemas.openxmlformats.org/officeDocument/2006/relationships/image" Target="../media/image67.png"/><Relationship Id="rId9" Type="http://schemas.openxmlformats.org/officeDocument/2006/relationships/image" Target="../media/image7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6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31.png"/><Relationship Id="rId4" Type="http://schemas.openxmlformats.org/officeDocument/2006/relationships/image" Target="../media/image8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8900" y="0"/>
            <a:ext cx="7785100" cy="13716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62600" y="2413000"/>
            <a:ext cx="61214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0" y="12674600"/>
            <a:ext cx="61214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600" y="8013700"/>
            <a:ext cx="232918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7600" y="2755900"/>
            <a:ext cx="13703300" cy="36703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7600" y="11544300"/>
            <a:ext cx="13144500" cy="533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49900" y="11607800"/>
            <a:ext cx="5295900" cy="876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49900" y="1358900"/>
            <a:ext cx="5080000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0" y="2552700"/>
            <a:ext cx="774700" cy="863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0" y="4953000"/>
            <a:ext cx="774700" cy="863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0" y="7366000"/>
            <a:ext cx="774700" cy="863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0" y="9766300"/>
            <a:ext cx="774700" cy="863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02300" y="2959100"/>
            <a:ext cx="30480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3900" y="5397500"/>
            <a:ext cx="3048000" cy="2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03900" y="7797800"/>
            <a:ext cx="3048000" cy="25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03900" y="10210800"/>
            <a:ext cx="30480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-1587500" y="6845300"/>
            <a:ext cx="14211300" cy="25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18400" y="9944100"/>
            <a:ext cx="457200" cy="596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37500" y="2400300"/>
            <a:ext cx="2286000" cy="1066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637500" y="7302500"/>
            <a:ext cx="2286000" cy="952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34500" y="4838700"/>
            <a:ext cx="889000" cy="10668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009100" y="9779000"/>
            <a:ext cx="914400" cy="952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18400" y="7543800"/>
            <a:ext cx="457200" cy="596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48700" y="9639300"/>
            <a:ext cx="8890000" cy="1117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18400" y="5130800"/>
            <a:ext cx="457200" cy="596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48700" y="7239000"/>
            <a:ext cx="10807700" cy="1117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18400" y="2730500"/>
            <a:ext cx="457200" cy="596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48700" y="4826000"/>
            <a:ext cx="10807700" cy="1117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422400" y="1485900"/>
            <a:ext cx="3835400" cy="18923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48700" y="2451100"/>
            <a:ext cx="108077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6337300" y="6769100"/>
            <a:ext cx="14211300" cy="2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396198">
            <a:off x="12255500" y="6921500"/>
            <a:ext cx="27940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6900" y="4610100"/>
            <a:ext cx="4533900" cy="4508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4300" y="5372100"/>
            <a:ext cx="4419600" cy="2971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12900" y="5715000"/>
            <a:ext cx="5664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28700"/>
            <a:ext cx="20878800" cy="1663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7000" y="342900"/>
            <a:ext cx="914400" cy="1066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4384000" cy="241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0" y="3733800"/>
            <a:ext cx="10896600" cy="7035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84721">
            <a:off x="14757400" y="2603500"/>
            <a:ext cx="3784600" cy="3746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42600" y="11341100"/>
            <a:ext cx="30988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28700"/>
            <a:ext cx="20878800" cy="1663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7000" y="393700"/>
            <a:ext cx="914400" cy="95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4384000" cy="241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100" y="4203700"/>
            <a:ext cx="20510500" cy="6667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2600" y="11341100"/>
            <a:ext cx="30988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028700"/>
            <a:ext cx="20878800" cy="16637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7000" y="393700"/>
            <a:ext cx="914400" cy="95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4384000" cy="241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1600" y="4279900"/>
            <a:ext cx="6400800" cy="6591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62410">
            <a:off x="13119100" y="3467100"/>
            <a:ext cx="3479800" cy="1612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80689">
            <a:off x="13970000" y="3771900"/>
            <a:ext cx="2057400" cy="711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6337300" y="6769100"/>
            <a:ext cx="14211300" cy="2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396198">
            <a:off x="12103100" y="6832600"/>
            <a:ext cx="27940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900" y="4610100"/>
            <a:ext cx="4533900" cy="4508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1300" y="5372100"/>
            <a:ext cx="4343400" cy="2971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08100" y="5588000"/>
            <a:ext cx="5664200" cy="2349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400"/>
            <a:ext cx="20878800" cy="1866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7000" y="393700"/>
            <a:ext cx="914400" cy="95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4384000" cy="241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9600" y="5384800"/>
            <a:ext cx="8826500" cy="3886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9600" y="4445000"/>
            <a:ext cx="3327400" cy="952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214100" y="6438900"/>
            <a:ext cx="1485900" cy="1803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335000" y="6578600"/>
            <a:ext cx="9169400" cy="149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335000" y="5384800"/>
            <a:ext cx="39370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400"/>
            <a:ext cx="20878800" cy="1866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7000" y="393700"/>
            <a:ext cx="914400" cy="95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4384000" cy="241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100" y="4864100"/>
            <a:ext cx="13957300" cy="4381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6337300" y="6769100"/>
            <a:ext cx="14211300" cy="2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396198">
            <a:off x="12192000" y="6921500"/>
            <a:ext cx="2794000" cy="5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610100"/>
            <a:ext cx="4533900" cy="4508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2400" y="5372100"/>
            <a:ext cx="4343400" cy="2971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47800" y="5130800"/>
            <a:ext cx="5664200" cy="3441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400"/>
            <a:ext cx="20878800" cy="1866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87000" y="393700"/>
            <a:ext cx="914400" cy="95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24384000" cy="241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4300" y="4572000"/>
            <a:ext cx="12776200" cy="5638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400"/>
            <a:ext cx="20878800" cy="1866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87000" y="342900"/>
            <a:ext cx="914400" cy="1066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24384000" cy="241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0800" y="3924300"/>
            <a:ext cx="14122400" cy="7086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400"/>
            <a:ext cx="20878800" cy="1866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39400" y="393700"/>
            <a:ext cx="762000" cy="95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24384000" cy="241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>
            <a:off x="9829800" y="7962900"/>
            <a:ext cx="47244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97000" y="10312400"/>
            <a:ext cx="215900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7000" y="5613400"/>
            <a:ext cx="21590000" cy="25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78100" y="4318000"/>
            <a:ext cx="8140700" cy="990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652500" y="4318000"/>
            <a:ext cx="8140700" cy="990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46300" y="6489700"/>
            <a:ext cx="7810500" cy="2959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020800" y="6197600"/>
            <a:ext cx="74168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400"/>
            <a:ext cx="20878800" cy="1866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7000" y="393700"/>
            <a:ext cx="914400" cy="95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4384000" cy="241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940300"/>
            <a:ext cx="12192000" cy="3835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14400"/>
            <a:ext cx="20878800" cy="1866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7000" y="393700"/>
            <a:ext cx="914400" cy="952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4384000" cy="241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2900" y="3098800"/>
            <a:ext cx="13538200" cy="92329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6337300" y="6769100"/>
            <a:ext cx="14211300" cy="2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800" y="4610100"/>
            <a:ext cx="4533900" cy="4508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60200" y="6045200"/>
            <a:ext cx="5334000" cy="1625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914400"/>
            <a:ext cx="20878800" cy="18669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87000" y="342900"/>
            <a:ext cx="914400" cy="1066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24384000" cy="241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6200" y="3022600"/>
            <a:ext cx="12877800" cy="909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421</Words>
  <Application>Microsoft Macintosh PowerPoint</Application>
  <PresentationFormat>사용자 지정</PresentationFormat>
  <Paragraphs>44</Paragraphs>
  <Slides>17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1" baseType="lpstr">
      <vt:lpstr>Calibri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[1학년 8반]성민규</cp:lastModifiedBy>
  <cp:revision>2</cp:revision>
  <dcterms:created xsi:type="dcterms:W3CDTF">2006-08-16T00:00:00Z</dcterms:created>
  <dcterms:modified xsi:type="dcterms:W3CDTF">2025-11-30T14:24:19Z</dcterms:modified>
</cp:coreProperties>
</file>